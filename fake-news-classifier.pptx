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6" r:id="rId9"/>
    <p:sldId id="267" r:id="rId10"/>
    <p:sldId id="262" r:id="rId11"/>
    <p:sldId id="263" r:id="rId12"/>
    <p:sldId id="264" r:id="rId13"/>
    <p:sldId id="269" r:id="rId14"/>
    <p:sldId id="270" r:id="rId15"/>
    <p:sldId id="278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65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Fake News Classifier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Classic ML results, evaluation, and leakage analysis</a:t>
            </a:r>
          </a:p>
        </p:txBody>
      </p:sp>
      <p:pic>
        <p:nvPicPr>
          <p:cNvPr id="5" name="Grafik 4" descr="Ein Bild, das Text, Grafiken, Screenshot, Electric Blue (Farbe) enthält.&#10;&#10;KI-generierte Inhalte können fehlerhaft sein.">
            <a:extLst>
              <a:ext uri="{FF2B5EF4-FFF2-40B4-BE49-F238E27FC236}">
                <a16:creationId xmlns:a16="http://schemas.microsoft.com/office/drawing/2014/main" id="{85BCFCE1-CDFF-C744-8BFB-5691F8EBE2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75" r="13358"/>
          <a:stretch>
            <a:fillRect/>
          </a:stretch>
        </p:blipFill>
        <p:spPr>
          <a:xfrm>
            <a:off x="-254000" y="0"/>
            <a:ext cx="9652000" cy="6858000"/>
          </a:xfrm>
          <a:prstGeom prst="rect">
            <a:avLst/>
          </a:prstGeom>
        </p:spPr>
      </p:pic>
      <p:pic>
        <p:nvPicPr>
          <p:cNvPr id="7" name="Grafik 6" descr="Ein Bild, das Text, Kreis, Schrift, Logo enthält.&#10;&#10;KI-generierte Inhalte können fehlerhaft sein.">
            <a:extLst>
              <a:ext uri="{FF2B5EF4-FFF2-40B4-BE49-F238E27FC236}">
                <a16:creationId xmlns:a16="http://schemas.microsoft.com/office/drawing/2014/main" id="{A7B70707-59AA-82F9-4DD4-4BD6C3435C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6826" b="50000"/>
          <a:stretch>
            <a:fillRect/>
          </a:stretch>
        </p:blipFill>
        <p:spPr>
          <a:xfrm>
            <a:off x="5208814" y="2531268"/>
            <a:ext cx="3033486" cy="3107532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74ED6ECB-9490-2BF4-817D-020175736733}"/>
              </a:ext>
            </a:extLst>
          </p:cNvPr>
          <p:cNvSpPr txBox="1"/>
          <p:nvPr/>
        </p:nvSpPr>
        <p:spPr>
          <a:xfrm>
            <a:off x="7629014" y="3735462"/>
            <a:ext cx="4619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800" dirty="0">
                <a:solidFill>
                  <a:srgbClr val="BA0001"/>
                </a:solidFill>
                <a:latin typeface="Bahnschrift SemiBold Condensed" panose="020B0502040204020203" pitchFamily="34" charset="0"/>
              </a:rPr>
              <a:t>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Task and dataset</a:t>
            </a:r>
          </a:p>
          <a:p>
            <a:r>
              <a:t>Preprocessing and evaluation setup</a:t>
            </a:r>
          </a:p>
          <a:p>
            <a:r>
              <a:t>Classic classifiers (simple, no SVM, no deep learning)</a:t>
            </a:r>
          </a:p>
          <a:p>
            <a:r>
              <a:t>Results and interpretation</a:t>
            </a:r>
          </a:p>
          <a:p>
            <a:r>
              <a:t>Subject leakage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Classify news as real or fake using the provided dataset</a:t>
            </a:r>
          </a:p>
          <a:p>
            <a:r>
              <a:rPr dirty="0"/>
              <a:t>Use title and text fields</a:t>
            </a:r>
          </a:p>
          <a:p>
            <a:r>
              <a:rPr dirty="0"/>
              <a:t>Evaluate with 5-fold cross-validation</a:t>
            </a:r>
          </a:p>
          <a:p>
            <a:r>
              <a:rPr dirty="0"/>
              <a:t>Compare multiple classic ML classifiers</a:t>
            </a:r>
          </a:p>
          <a:p>
            <a:r>
              <a:rPr dirty="0"/>
              <a:t>Analyze unusual performance and possible leakage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308725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44,898 articles</a:t>
            </a:r>
          </a:p>
          <a:p>
            <a:r>
              <a:rPr dirty="0"/>
              <a:t>Combine title + text into a single body field</a:t>
            </a:r>
          </a:p>
          <a:p>
            <a:r>
              <a:rPr dirty="0"/>
              <a:t>Tokenization, </a:t>
            </a:r>
            <a:r>
              <a:rPr dirty="0" err="1"/>
              <a:t>stopword</a:t>
            </a:r>
            <a:r>
              <a:rPr dirty="0"/>
              <a:t> removal, stemming (for counting models)</a:t>
            </a:r>
          </a:p>
          <a:p>
            <a:r>
              <a:rPr dirty="0"/>
              <a:t>TF-IDF for linear models</a:t>
            </a:r>
          </a:p>
          <a:p>
            <a:r>
              <a:rPr dirty="0"/>
              <a:t>5-fold stratified cross-validation</a:t>
            </a:r>
          </a:p>
        </p:txBody>
      </p:sp>
      <p:pic>
        <p:nvPicPr>
          <p:cNvPr id="5" name="Grafik 4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6127D562-E958-2EBB-CFEE-694CDB7E6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30" y="1417638"/>
            <a:ext cx="8697539" cy="4620270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A14BB763-0352-2875-0610-D92DA6A5D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Classic Models (Simple, No SVM, No Deep Learning)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Counting heuristics</a:t>
            </a:r>
          </a:p>
          <a:p>
            <a:r>
              <a:t>is_fake1: compares most common fake vs real token</a:t>
            </a:r>
          </a:p>
          <a:p>
            <a:r>
              <a:t>is_fake2: overlaps with fake vs real token counters</a:t>
            </a:r>
          </a:p>
          <a:p>
            <a:r>
              <a:t>Linear Regression (thresholded)</a:t>
            </a:r>
          </a:p>
          <a:p>
            <a:r>
              <a:t>Logistic Regression (TF-IDF)</a:t>
            </a:r>
          </a:p>
          <a:p>
            <a:r>
              <a:t>Naive Bayes (Multinomial, Bernoulli)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0" y="-296862"/>
            <a:ext cx="8229600" cy="1143000"/>
          </a:xfrm>
        </p:spPr>
        <p:txBody>
          <a:bodyPr/>
          <a:lstStyle/>
          <a:p>
            <a:r>
              <a:rPr lang="de-DE" dirty="0"/>
              <a:t>Very simple fake </a:t>
            </a:r>
            <a:r>
              <a:rPr lang="de-DE" dirty="0" err="1"/>
              <a:t>news</a:t>
            </a:r>
            <a:r>
              <a:rPr lang="de-DE" dirty="0"/>
              <a:t> </a:t>
            </a:r>
            <a:r>
              <a:rPr lang="de-DE" dirty="0" err="1"/>
              <a:t>filter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036066"/>
              </p:ext>
            </p:extLst>
          </p:nvPr>
        </p:nvGraphicFramePr>
        <p:xfrm>
          <a:off x="799011" y="4964466"/>
          <a:ext cx="7545978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0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5203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t>is_fake1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t>is_fake2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0.857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7" name="Grafik 6" descr="Ein Bild, das Text, Screenshot, Schrift, Design enthält.&#10;&#10;KI-generierte Inhalte können fehlerhaft sein.">
            <a:extLst>
              <a:ext uri="{FF2B5EF4-FFF2-40B4-BE49-F238E27FC236}">
                <a16:creationId xmlns:a16="http://schemas.microsoft.com/office/drawing/2014/main" id="{89DD6052-981F-751D-2B05-323239579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011" y="948531"/>
            <a:ext cx="1755503" cy="39135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0B88E-86F7-D528-3223-82A8BA888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71E79-B7B3-21AB-BB04-8CD04A35E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-296862"/>
            <a:ext cx="8229600" cy="1143000"/>
          </a:xfrm>
        </p:spPr>
        <p:txBody>
          <a:bodyPr/>
          <a:lstStyle/>
          <a:p>
            <a:r>
              <a:rPr lang="de-DE" dirty="0"/>
              <a:t>Linear </a:t>
            </a:r>
            <a:r>
              <a:rPr lang="de-DE" dirty="0" err="1"/>
              <a:t>regression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B6B3136-56B7-5772-5885-FC922D65E6BE}"/>
              </a:ext>
            </a:extLst>
          </p:cNvPr>
          <p:cNvGraphicFramePr>
            <a:graphicFrameLocks noGrp="1"/>
          </p:cNvGraphicFramePr>
          <p:nvPr/>
        </p:nvGraphicFramePr>
        <p:xfrm>
          <a:off x="640080" y="1463040"/>
          <a:ext cx="7315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MCC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t>is_fake1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t>is_fake2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026" name="Picture 2" descr="3. Linear Regression — Machine Learning">
            <a:extLst>
              <a:ext uri="{FF2B5EF4-FFF2-40B4-BE49-F238E27FC236}">
                <a16:creationId xmlns:a16="http://schemas.microsoft.com/office/drawing/2014/main" id="{5A51A72D-106B-A706-B2F4-3B40E2375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66738"/>
            <a:ext cx="9144000" cy="572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fik 4" descr="Ein Bild, das Schrift, Text, Screenshot, Zahl enthält.&#10;&#10;KI-generierte Inhalte können fehlerhaft sein.">
            <a:extLst>
              <a:ext uri="{FF2B5EF4-FFF2-40B4-BE49-F238E27FC236}">
                <a16:creationId xmlns:a16="http://schemas.microsoft.com/office/drawing/2014/main" id="{3ECBA2C8-3DB1-5CA0-D7EC-44DA1B996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126" y="6114946"/>
            <a:ext cx="1324160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65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D0AD2-74CC-F81B-E73E-C6E3BAF36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ogistic Regression - Logicmojo">
            <a:extLst>
              <a:ext uri="{FF2B5EF4-FFF2-40B4-BE49-F238E27FC236}">
                <a16:creationId xmlns:a16="http://schemas.microsoft.com/office/drawing/2014/main" id="{4541D1FB-B15E-BE60-20A7-D849BE9847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 bwMode="auto">
          <a:xfrm>
            <a:off x="2286000" y="1193800"/>
            <a:ext cx="4572000" cy="44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el 4">
            <a:extLst>
              <a:ext uri="{FF2B5EF4-FFF2-40B4-BE49-F238E27FC236}">
                <a16:creationId xmlns:a16="http://schemas.microsoft.com/office/drawing/2014/main" id="{F0EEBA98-8742-2D4D-7D98-DF285DE0A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7" name="Grafik 6" descr="Ein Bild, das Text, Schrift, Screenshot, Typografie enthält.&#10;&#10;KI-generierte Inhalte können fehlerhaft sein.">
            <a:extLst>
              <a:ext uri="{FF2B5EF4-FFF2-40B4-BE49-F238E27FC236}">
                <a16:creationId xmlns:a16="http://schemas.microsoft.com/office/drawing/2014/main" id="{F3874FDA-E0EE-EDC2-F636-0726BC33A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418763"/>
            <a:ext cx="1333686" cy="781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811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FF63F-F8EB-B706-D94D-25B497284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E548B5A8-C71F-39D5-D9CB-6F68C52D9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3074" name="Picture 2" descr="The ultimate guide to Naive Bayes | Machine Learning Archive">
            <a:extLst>
              <a:ext uri="{FF2B5EF4-FFF2-40B4-BE49-F238E27FC236}">
                <a16:creationId xmlns:a16="http://schemas.microsoft.com/office/drawing/2014/main" id="{5208F7DE-0045-8EDC-528B-85BC074BF7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0750"/>
            <a:ext cx="9144000" cy="501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2383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is_fake1 is weak: single-token heuristic</a:t>
            </a:r>
          </a:p>
          <a:p>
            <a:r>
              <a:rPr dirty="0"/>
              <a:t>is_fake2 is surprisingly strong, likely due to dataset bias</a:t>
            </a:r>
          </a:p>
          <a:p>
            <a:r>
              <a:rPr dirty="0"/>
              <a:t>Linear/</a:t>
            </a:r>
            <a:r>
              <a:rPr dirty="0" err="1"/>
              <a:t>LogReg</a:t>
            </a:r>
            <a:r>
              <a:rPr dirty="0"/>
              <a:t> perform very well on TF-IDF features</a:t>
            </a:r>
          </a:p>
          <a:p>
            <a:r>
              <a:rPr dirty="0"/>
              <a:t>High scores suggest strong stylistic or source signals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Subject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Subject column is perfectly predictive in this dataset</a:t>
            </a:r>
          </a:p>
          <a:p>
            <a:r>
              <a:t>Many subjects have fake_ratio = 1.0 or 0.0</a:t>
            </a:r>
          </a:p>
          <a:p>
            <a:r>
              <a:t>Subject-only classifier reaches 1.000 metrics</a:t>
            </a:r>
          </a:p>
          <a:p>
            <a:r>
              <a:t>Conclusion: subject must be excluded for fair evaluation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Are Scores So High?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Dataset-specific signals dominate</a:t>
            </a:r>
          </a:p>
          <a:p>
            <a:r>
              <a:rPr dirty="0"/>
              <a:t>Publisher/subject bias in labels</a:t>
            </a:r>
          </a:p>
          <a:p>
            <a:r>
              <a:rPr dirty="0"/>
              <a:t>Stylistic cues (wording, formatting) captured by TF-IDF</a:t>
            </a:r>
          </a:p>
          <a:p>
            <a:r>
              <a:rPr dirty="0"/>
              <a:t>Potential source leakage (e.g., consistent tokens)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77794A8F-03FD-204A-C33E-8A30CE085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64" y="308845"/>
            <a:ext cx="8482781" cy="1325563"/>
          </a:xfrm>
        </p:spPr>
        <p:txBody>
          <a:bodyPr/>
          <a:lstStyle/>
          <a:p>
            <a:r>
              <a:rPr lang="en-US" dirty="0"/>
              <a:t>SVM</a:t>
            </a:r>
            <a:endParaRPr lang="en-GB" dirty="0"/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435AB252-DA08-AE00-3859-3D8BCC81D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264" y="1690687"/>
            <a:ext cx="8482781" cy="469044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9600" b="1" dirty="0"/>
              <a:t>Preprocessing:</a:t>
            </a:r>
          </a:p>
          <a:p>
            <a:r>
              <a:rPr lang="en-US" sz="9600" dirty="0"/>
              <a:t>Title and text are considered</a:t>
            </a:r>
          </a:p>
          <a:p>
            <a:r>
              <a:rPr lang="en-US" sz="9600" dirty="0"/>
              <a:t>Tokenization with normalization and noise reduction (lowercase, removing </a:t>
            </a:r>
            <a:r>
              <a:rPr lang="en-US" sz="9600" dirty="0" err="1"/>
              <a:t>stopwords</a:t>
            </a:r>
            <a:r>
              <a:rPr lang="en-US" sz="9600" dirty="0"/>
              <a:t> and stemming)</a:t>
            </a:r>
          </a:p>
          <a:p>
            <a:r>
              <a:rPr lang="en-US" sz="9600" dirty="0"/>
              <a:t>Fusion of both features into one vector</a:t>
            </a:r>
          </a:p>
          <a:p>
            <a:endParaRPr lang="en-US" sz="9600" dirty="0"/>
          </a:p>
          <a:p>
            <a:pPr marL="0" indent="0">
              <a:buNone/>
            </a:pPr>
            <a:r>
              <a:rPr lang="en-US" sz="9600" b="1" dirty="0"/>
              <a:t>Training:</a:t>
            </a:r>
          </a:p>
          <a:p>
            <a:r>
              <a:rPr lang="en-US" sz="9600" dirty="0"/>
              <a:t>Define reproducible parameters (seed, CV-folds)</a:t>
            </a:r>
          </a:p>
          <a:p>
            <a:r>
              <a:rPr lang="en-US" sz="9600" dirty="0"/>
              <a:t>Train basic SVM</a:t>
            </a:r>
          </a:p>
          <a:p>
            <a:r>
              <a:rPr lang="en-US" sz="9600" dirty="0"/>
              <a:t>Hyperparameter tuning with </a:t>
            </a:r>
            <a:r>
              <a:rPr lang="en-GB" sz="9600" dirty="0" err="1"/>
              <a:t>RandomizedSearchCV</a:t>
            </a:r>
            <a:r>
              <a:rPr lang="en-GB" sz="9600" dirty="0"/>
              <a:t> (based on accuracy)</a:t>
            </a:r>
          </a:p>
          <a:p>
            <a:r>
              <a:rPr lang="en-GB" sz="9600" dirty="0"/>
              <a:t>Train final SVM with the best hyperparameters</a:t>
            </a:r>
            <a:endParaRPr lang="en-US" sz="96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5389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C38FD76-F829-0B10-C859-05076E374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2" y="355293"/>
            <a:ext cx="8590936" cy="1325563"/>
          </a:xfrm>
        </p:spPr>
        <p:txBody>
          <a:bodyPr/>
          <a:lstStyle/>
          <a:p>
            <a:r>
              <a:rPr lang="en-US" dirty="0"/>
              <a:t>SVM results</a:t>
            </a:r>
            <a:endParaRPr lang="en-GB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3294DAD-3CE3-8879-538B-A254E8F59F83}"/>
              </a:ext>
            </a:extLst>
          </p:cNvPr>
          <p:cNvSpPr txBox="1"/>
          <p:nvPr/>
        </p:nvSpPr>
        <p:spPr>
          <a:xfrm>
            <a:off x="953728" y="1589585"/>
            <a:ext cx="1927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Basic SVM</a:t>
            </a:r>
            <a:endParaRPr lang="en-GB" sz="28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7C4A5A3-469C-C861-CDAD-F07C29CBE2FA}"/>
              </a:ext>
            </a:extLst>
          </p:cNvPr>
          <p:cNvSpPr txBox="1"/>
          <p:nvPr/>
        </p:nvSpPr>
        <p:spPr>
          <a:xfrm>
            <a:off x="953728" y="2272993"/>
            <a:ext cx="28611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Accuracy: 0.9945 </a:t>
            </a:r>
          </a:p>
          <a:p>
            <a:r>
              <a:rPr lang="en-GB" sz="2400" dirty="0"/>
              <a:t>MCC: 0.9891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F0CAF4DA-3082-5645-FFC6-4C6FB2D01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010008"/>
              </p:ext>
            </p:extLst>
          </p:nvPr>
        </p:nvGraphicFramePr>
        <p:xfrm>
          <a:off x="2814480" y="3214346"/>
          <a:ext cx="5641260" cy="2468880"/>
        </p:xfrm>
        <a:graphic>
          <a:graphicData uri="http://schemas.openxmlformats.org/drawingml/2006/table">
            <a:tbl>
              <a:tblPr/>
              <a:tblGrid>
                <a:gridCol w="1256072">
                  <a:extLst>
                    <a:ext uri="{9D8B030D-6E8A-4147-A177-3AD203B41FA5}">
                      <a16:colId xmlns:a16="http://schemas.microsoft.com/office/drawing/2014/main" val="2529616538"/>
                    </a:ext>
                  </a:extLst>
                </a:gridCol>
                <a:gridCol w="1101213">
                  <a:extLst>
                    <a:ext uri="{9D8B030D-6E8A-4147-A177-3AD203B41FA5}">
                      <a16:colId xmlns:a16="http://schemas.microsoft.com/office/drawing/2014/main" val="300941870"/>
                    </a:ext>
                  </a:extLst>
                </a:gridCol>
                <a:gridCol w="1027471">
                  <a:extLst>
                    <a:ext uri="{9D8B030D-6E8A-4147-A177-3AD203B41FA5}">
                      <a16:colId xmlns:a16="http://schemas.microsoft.com/office/drawing/2014/main" val="1070201705"/>
                    </a:ext>
                  </a:extLst>
                </a:gridCol>
                <a:gridCol w="1128252">
                  <a:extLst>
                    <a:ext uri="{9D8B030D-6E8A-4147-A177-3AD203B41FA5}">
                      <a16:colId xmlns:a16="http://schemas.microsoft.com/office/drawing/2014/main" val="417569215"/>
                    </a:ext>
                  </a:extLst>
                </a:gridCol>
                <a:gridCol w="1128252">
                  <a:extLst>
                    <a:ext uri="{9D8B030D-6E8A-4147-A177-3AD203B41FA5}">
                      <a16:colId xmlns:a16="http://schemas.microsoft.com/office/drawing/2014/main" val="2682234863"/>
                    </a:ext>
                  </a:extLst>
                </a:gridCol>
              </a:tblGrid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331434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4284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091066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4696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278828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Accuracy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8980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233651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Macro </a:t>
                      </a:r>
                      <a:r>
                        <a:rPr lang="en-GB" b="1" dirty="0" err="1"/>
                        <a:t>Avg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8980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560076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Weighted </a:t>
                      </a:r>
                      <a:r>
                        <a:rPr lang="en-GB" b="1" dirty="0" err="1"/>
                        <a:t>Avg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0.99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8980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293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02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DD34F-17FD-16E0-77D1-695A8D497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991D3E0-E845-AB71-8EC1-7AD33C038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2" y="355293"/>
            <a:ext cx="8590936" cy="1325563"/>
          </a:xfrm>
        </p:spPr>
        <p:txBody>
          <a:bodyPr/>
          <a:lstStyle/>
          <a:p>
            <a:r>
              <a:rPr lang="en-US" dirty="0"/>
              <a:t>SVM results</a:t>
            </a:r>
            <a:endParaRPr lang="en-GB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38257A2-2EE3-563E-6C19-34AE142DE275}"/>
              </a:ext>
            </a:extLst>
          </p:cNvPr>
          <p:cNvSpPr txBox="1"/>
          <p:nvPr/>
        </p:nvSpPr>
        <p:spPr>
          <a:xfrm>
            <a:off x="688260" y="1577759"/>
            <a:ext cx="28611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SVM with tuning</a:t>
            </a:r>
            <a:endParaRPr lang="en-GB" sz="2800" dirty="0"/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E3C27232-EBDA-0439-D729-EBD428DBF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060912"/>
              </p:ext>
            </p:extLst>
          </p:nvPr>
        </p:nvGraphicFramePr>
        <p:xfrm>
          <a:off x="2814480" y="3214346"/>
          <a:ext cx="5641260" cy="2468880"/>
        </p:xfrm>
        <a:graphic>
          <a:graphicData uri="http://schemas.openxmlformats.org/drawingml/2006/table">
            <a:tbl>
              <a:tblPr/>
              <a:tblGrid>
                <a:gridCol w="1256072">
                  <a:extLst>
                    <a:ext uri="{9D8B030D-6E8A-4147-A177-3AD203B41FA5}">
                      <a16:colId xmlns:a16="http://schemas.microsoft.com/office/drawing/2014/main" val="2529616538"/>
                    </a:ext>
                  </a:extLst>
                </a:gridCol>
                <a:gridCol w="1101213">
                  <a:extLst>
                    <a:ext uri="{9D8B030D-6E8A-4147-A177-3AD203B41FA5}">
                      <a16:colId xmlns:a16="http://schemas.microsoft.com/office/drawing/2014/main" val="300941870"/>
                    </a:ext>
                  </a:extLst>
                </a:gridCol>
                <a:gridCol w="1027471">
                  <a:extLst>
                    <a:ext uri="{9D8B030D-6E8A-4147-A177-3AD203B41FA5}">
                      <a16:colId xmlns:a16="http://schemas.microsoft.com/office/drawing/2014/main" val="1070201705"/>
                    </a:ext>
                  </a:extLst>
                </a:gridCol>
                <a:gridCol w="1128252">
                  <a:extLst>
                    <a:ext uri="{9D8B030D-6E8A-4147-A177-3AD203B41FA5}">
                      <a16:colId xmlns:a16="http://schemas.microsoft.com/office/drawing/2014/main" val="417569215"/>
                    </a:ext>
                  </a:extLst>
                </a:gridCol>
                <a:gridCol w="1128252">
                  <a:extLst>
                    <a:ext uri="{9D8B030D-6E8A-4147-A177-3AD203B41FA5}">
                      <a16:colId xmlns:a16="http://schemas.microsoft.com/office/drawing/2014/main" val="2682234863"/>
                    </a:ext>
                  </a:extLst>
                </a:gridCol>
              </a:tblGrid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331434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Real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4284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091066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Fake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4696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278828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Accuracy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8980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233651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Macro </a:t>
                      </a:r>
                      <a:r>
                        <a:rPr lang="en-GB" b="1" dirty="0" err="1"/>
                        <a:t>Avg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8980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560076"/>
                  </a:ext>
                </a:extLst>
              </a:tr>
              <a:tr h="334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Weighted </a:t>
                      </a:r>
                      <a:r>
                        <a:rPr lang="en-GB" b="1" dirty="0" err="1"/>
                        <a:t>Avg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1.00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8980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293771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32CD25FB-EE23-1E99-65B5-46A345D156CC}"/>
              </a:ext>
            </a:extLst>
          </p:cNvPr>
          <p:cNvSpPr txBox="1"/>
          <p:nvPr/>
        </p:nvSpPr>
        <p:spPr>
          <a:xfrm>
            <a:off x="688260" y="2103103"/>
            <a:ext cx="43753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Best Hyperparameters: {'kernel': 'linear', 'C': 0.1}</a:t>
            </a:r>
          </a:p>
          <a:p>
            <a:r>
              <a:rPr lang="en-GB" sz="2000" dirty="0"/>
              <a:t>Accuracy: 0.9999</a:t>
            </a:r>
          </a:p>
          <a:p>
            <a:r>
              <a:rPr lang="en-GB" sz="2000" dirty="0"/>
              <a:t>MCC: 0.9998</a:t>
            </a:r>
          </a:p>
        </p:txBody>
      </p:sp>
    </p:spTree>
    <p:extLst>
      <p:ext uri="{BB962C8B-B14F-4D97-AF65-F5344CB8AC3E}">
        <p14:creationId xmlns:p14="http://schemas.microsoft.com/office/powerpoint/2010/main" val="31296158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76139-5304-6A67-722D-8576D9A10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775C3FD-1D9D-2524-AECC-B007F9810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12" y="355293"/>
            <a:ext cx="8590936" cy="1325563"/>
          </a:xfrm>
        </p:spPr>
        <p:txBody>
          <a:bodyPr/>
          <a:lstStyle/>
          <a:p>
            <a:r>
              <a:rPr lang="en-US" dirty="0"/>
              <a:t>SVM results</a:t>
            </a:r>
            <a:endParaRPr lang="en-GB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8AE29C1-6B9C-6592-CEEA-C4D9823E9488}"/>
              </a:ext>
            </a:extLst>
          </p:cNvPr>
          <p:cNvSpPr txBox="1"/>
          <p:nvPr/>
        </p:nvSpPr>
        <p:spPr>
          <a:xfrm>
            <a:off x="1234441" y="1808675"/>
            <a:ext cx="2281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Basic SVM</a:t>
            </a:r>
            <a:endParaRPr lang="en-GB" sz="2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69D2976-2380-0238-FD5D-0146250BE3EC}"/>
              </a:ext>
            </a:extLst>
          </p:cNvPr>
          <p:cNvSpPr txBox="1"/>
          <p:nvPr/>
        </p:nvSpPr>
        <p:spPr>
          <a:xfrm>
            <a:off x="5447074" y="1808675"/>
            <a:ext cx="2930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SVM with tuning</a:t>
            </a:r>
            <a:endParaRPr lang="en-GB" sz="2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4564A4B-B65C-5329-235D-C5CCC2713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29" y="2847965"/>
            <a:ext cx="4462107" cy="334658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1CCAA57-9947-5E63-EB6D-DF3190163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847965"/>
            <a:ext cx="4475041" cy="335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9599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40784ED-454C-122D-DDC3-988F14B390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442" y="384328"/>
            <a:ext cx="6939116" cy="1325563"/>
          </a:xfrm>
        </p:spPr>
        <p:txBody>
          <a:bodyPr/>
          <a:lstStyle/>
          <a:p>
            <a:r>
              <a:rPr lang="en-US" dirty="0"/>
              <a:t>BERT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Marcador de contenido 2">
                <a:extLst>
                  <a:ext uri="{FF2B5EF4-FFF2-40B4-BE49-F238E27FC236}">
                    <a16:creationId xmlns:a16="http://schemas.microsoft.com/office/drawing/2014/main" id="{E2BD0E71-8115-42FF-9510-7B31C90D36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8826" y="1680392"/>
                <a:ext cx="9075174" cy="4830813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GB" sz="3300" dirty="0"/>
                  <a:t>bert-base-uncased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3300" dirty="0"/>
                  <a:t> pretrained on large English corpora</a:t>
                </a:r>
              </a:p>
              <a:p>
                <a:r>
                  <a:rPr lang="en-GB" sz="3300" dirty="0" err="1"/>
                  <a:t>WordPiece</a:t>
                </a:r>
                <a:r>
                  <a:rPr lang="en-GB" sz="3300" dirty="0"/>
                  <a:t> </a:t>
                </a:r>
                <a:r>
                  <a:rPr lang="en-GB" sz="3300" dirty="0" err="1"/>
                  <a:t>subword</a:t>
                </a:r>
                <a:r>
                  <a:rPr lang="en-GB" sz="3300" dirty="0"/>
                  <a:t> tokenization</a:t>
                </a:r>
              </a:p>
              <a:p>
                <a:r>
                  <a:rPr lang="en-GB" sz="3300" dirty="0"/>
                  <a:t>No manual preprocessing</a:t>
                </a:r>
              </a:p>
              <a:p>
                <a:endParaRPr lang="en-GB" sz="3300" dirty="0"/>
              </a:p>
              <a:p>
                <a:pPr marL="0" indent="0">
                  <a:buNone/>
                </a:pPr>
                <a:r>
                  <a:rPr lang="en-GB" sz="3300" b="1" dirty="0"/>
                  <a:t>Training:</a:t>
                </a:r>
              </a:p>
              <a:p>
                <a:r>
                  <a:rPr lang="en-GB" sz="3300" dirty="0"/>
                  <a:t>Model sees the training data in batches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3300" dirty="0"/>
                  <a:t> more efficient and stable</a:t>
                </a:r>
              </a:p>
              <a:p>
                <a:r>
                  <a:rPr lang="en-GB" sz="3300" dirty="0"/>
                  <a:t>3 epochs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3300" dirty="0"/>
                  <a:t> iteratively refine its understanding of the task</a:t>
                </a:r>
              </a:p>
              <a:p>
                <a:r>
                  <a:rPr lang="en-GB" sz="3300" dirty="0"/>
                  <a:t>For each batch: Loss function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3300" dirty="0"/>
                  <a:t> optimizer (</a:t>
                </a:r>
                <a:r>
                  <a:rPr lang="en-GB" sz="3300" dirty="0" err="1"/>
                  <a:t>AdamW</a:t>
                </a:r>
                <a:r>
                  <a:rPr lang="en-GB" sz="3300" dirty="0"/>
                  <a:t>) updates weights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GB" sz="3300" dirty="0"/>
                  <a:t> learning rate scheduler (stabilize and converge)</a:t>
                </a:r>
              </a:p>
              <a:p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" name="Marcador de contenido 2">
                <a:extLst>
                  <a:ext uri="{FF2B5EF4-FFF2-40B4-BE49-F238E27FC236}">
                    <a16:creationId xmlns:a16="http://schemas.microsoft.com/office/drawing/2014/main" id="{E2BD0E71-8115-42FF-9510-7B31C90D36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8826" y="1680392"/>
                <a:ext cx="9075174" cy="4830813"/>
              </a:xfrm>
              <a:blipFill>
                <a:blip r:embed="rId2"/>
                <a:stretch>
                  <a:fillRect l="-1343" t="-2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6465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575DC02-B12B-8C64-566A-D76DDA0397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024" y="2064314"/>
            <a:ext cx="5664608" cy="4248456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1BF0DA51-25DD-E09F-EE2D-2F83DE2A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164" y="345000"/>
            <a:ext cx="7961671" cy="1325563"/>
          </a:xfrm>
        </p:spPr>
        <p:txBody>
          <a:bodyPr/>
          <a:lstStyle/>
          <a:p>
            <a:r>
              <a:rPr lang="en-US" dirty="0"/>
              <a:t>BERT results</a:t>
            </a:r>
            <a:endParaRPr lang="en-GB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5B88C14-E811-A14A-5C91-9A4CC2CB3B3D}"/>
              </a:ext>
            </a:extLst>
          </p:cNvPr>
          <p:cNvSpPr txBox="1"/>
          <p:nvPr/>
        </p:nvSpPr>
        <p:spPr>
          <a:xfrm>
            <a:off x="152024" y="2064314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Test Accuracy: 0.9993</a:t>
            </a:r>
          </a:p>
          <a:p>
            <a:r>
              <a:rPr lang="en-GB" sz="2800" dirty="0"/>
              <a:t>Test MCC: 0.9987</a:t>
            </a:r>
          </a:p>
        </p:txBody>
      </p:sp>
    </p:spTree>
    <p:extLst>
      <p:ext uri="{BB962C8B-B14F-4D97-AF65-F5344CB8AC3E}">
        <p14:creationId xmlns:p14="http://schemas.microsoft.com/office/powerpoint/2010/main" val="218018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DF2BA-4B47-5098-9196-CACB47A238B1}"/>
              </a:ext>
            </a:extLst>
          </p:cNvPr>
          <p:cNvSpPr txBox="1">
            <a:spLocks/>
          </p:cNvSpPr>
          <p:nvPr/>
        </p:nvSpPr>
        <p:spPr>
          <a:xfrm>
            <a:off x="1004119" y="2766218"/>
            <a:ext cx="7135761" cy="1325563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Do you see anything strange?</a:t>
            </a:r>
          </a:p>
        </p:txBody>
      </p:sp>
    </p:spTree>
    <p:extLst>
      <p:ext uri="{BB962C8B-B14F-4D97-AF65-F5344CB8AC3E}">
        <p14:creationId xmlns:p14="http://schemas.microsoft.com/office/powerpoint/2010/main" val="3907325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AD82D011-368B-9F68-7D09-C8DEFC5A6C94}"/>
              </a:ext>
            </a:extLst>
          </p:cNvPr>
          <p:cNvSpPr txBox="1">
            <a:spLocks/>
          </p:cNvSpPr>
          <p:nvPr/>
        </p:nvSpPr>
        <p:spPr>
          <a:xfrm>
            <a:off x="287593" y="365125"/>
            <a:ext cx="82566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Bias in dataset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4FC71306-BE20-0E48-0F7F-037E6B7996C1}"/>
              </a:ext>
            </a:extLst>
          </p:cNvPr>
          <p:cNvSpPr txBox="1">
            <a:spLocks/>
          </p:cNvSpPr>
          <p:nvPr/>
        </p:nvSpPr>
        <p:spPr>
          <a:xfrm>
            <a:off x="287593" y="1825625"/>
            <a:ext cx="86106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Dataset on Kaggle (similar one): '(Reuters)' tag on text column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Our dataset didn’t have it, but Reuters was used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Reuters: major global news agency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	 Indicator of true news?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Train on a new dataset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730A638E-30E8-8449-B476-50B14536FBD5}"/>
              </a:ext>
            </a:extLst>
          </p:cNvPr>
          <p:cNvSpPr/>
          <p:nvPr/>
        </p:nvSpPr>
        <p:spPr>
          <a:xfrm>
            <a:off x="825910" y="4354821"/>
            <a:ext cx="245806" cy="196646"/>
          </a:xfrm>
          <a:prstGeom prst="rightArrow">
            <a:avLst/>
          </a:prstGeom>
          <a:solidFill>
            <a:sysClr val="windowText" lastClr="00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7087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A4C37D-A458-8B4F-AFBE-9F80C7B26AD4}"/>
              </a:ext>
            </a:extLst>
          </p:cNvPr>
          <p:cNvSpPr txBox="1">
            <a:spLocks/>
          </p:cNvSpPr>
          <p:nvPr/>
        </p:nvSpPr>
        <p:spPr>
          <a:xfrm>
            <a:off x="-685800" y="581435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New dataset results</a:t>
            </a:r>
            <a:endParaRPr lang="en-GB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012945-09F3-CCE9-2501-19D1682B2503}"/>
              </a:ext>
            </a:extLst>
          </p:cNvPr>
          <p:cNvSpPr txBox="1"/>
          <p:nvPr/>
        </p:nvSpPr>
        <p:spPr>
          <a:xfrm>
            <a:off x="444907" y="2231096"/>
            <a:ext cx="3615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Logistic Regression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2431B3D-F068-463F-B0FD-494C2BFC21D5}"/>
              </a:ext>
            </a:extLst>
          </p:cNvPr>
          <p:cNvSpPr txBox="1"/>
          <p:nvPr/>
        </p:nvSpPr>
        <p:spPr>
          <a:xfrm>
            <a:off x="444907" y="3013501"/>
            <a:ext cx="36158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Accuracy: 0.9174</a:t>
            </a:r>
          </a:p>
          <a:p>
            <a:r>
              <a:rPr lang="en-GB" sz="2400" dirty="0"/>
              <a:t>MCC: 0.8360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80C9D72-FA8A-9D97-F568-063629B8BCB9}"/>
              </a:ext>
            </a:extLst>
          </p:cNvPr>
          <p:cNvSpPr txBox="1"/>
          <p:nvPr/>
        </p:nvSpPr>
        <p:spPr>
          <a:xfrm>
            <a:off x="5203725" y="2221434"/>
            <a:ext cx="3495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Linear Regression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94C15AE-62FF-1579-4D49-84A8A88DF538}"/>
              </a:ext>
            </a:extLst>
          </p:cNvPr>
          <p:cNvSpPr txBox="1"/>
          <p:nvPr/>
        </p:nvSpPr>
        <p:spPr>
          <a:xfrm>
            <a:off x="5203725" y="2984260"/>
            <a:ext cx="36158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Accuracy: 0.9067</a:t>
            </a:r>
          </a:p>
          <a:p>
            <a:r>
              <a:rPr lang="en-GB" sz="2400" dirty="0"/>
              <a:t>MCC: 0.8134</a:t>
            </a:r>
          </a:p>
        </p:txBody>
      </p:sp>
    </p:spTree>
    <p:extLst>
      <p:ext uri="{BB962C8B-B14F-4D97-AF65-F5344CB8AC3E}">
        <p14:creationId xmlns:p14="http://schemas.microsoft.com/office/powerpoint/2010/main" val="1027927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D87A0-2F9B-2461-3F52-01FEB5A4F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FF9B33-C5C7-16BD-F787-9410BD2DB20E}"/>
              </a:ext>
            </a:extLst>
          </p:cNvPr>
          <p:cNvSpPr txBox="1">
            <a:spLocks/>
          </p:cNvSpPr>
          <p:nvPr/>
        </p:nvSpPr>
        <p:spPr>
          <a:xfrm>
            <a:off x="-685800" y="581435"/>
            <a:ext cx="10515600" cy="1325563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New dataset results</a:t>
            </a:r>
            <a:endParaRPr lang="en-GB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102549B-CD5C-F317-11FA-00ACF30D8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0916"/>
            <a:ext cx="9144000" cy="429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867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Classic models achieve strong performance</a:t>
            </a:r>
          </a:p>
          <a:p>
            <a:r>
              <a:t>Performance is likely inflated by dataset bias</a:t>
            </a:r>
          </a:p>
          <a:p>
            <a:r>
              <a:t>Subject leakage is extreme and must be handled</a:t>
            </a:r>
          </a:p>
          <a:p>
            <a:r>
              <a:t>Future work: debiasing, cross-source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</Words>
  <Application>Microsoft Office PowerPoint</Application>
  <PresentationFormat>Presentación en pantalla (4:3)</PresentationFormat>
  <Paragraphs>193</Paragraphs>
  <Slides>23</Slides>
  <Notes>0</Notes>
  <HiddenSlides>5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0" baseType="lpstr">
      <vt:lpstr>Aptos</vt:lpstr>
      <vt:lpstr>Aptos Display</vt:lpstr>
      <vt:lpstr>Arial</vt:lpstr>
      <vt:lpstr>Bahnschrift SemiBold Condensed</vt:lpstr>
      <vt:lpstr>Calibri</vt:lpstr>
      <vt:lpstr>Cambria Math</vt:lpstr>
      <vt:lpstr>Office Theme</vt:lpstr>
      <vt:lpstr>Fake News Classifier</vt:lpstr>
      <vt:lpstr>Agenda</vt:lpstr>
      <vt:lpstr>Task</vt:lpstr>
      <vt:lpstr>Presentación de PowerPoint</vt:lpstr>
      <vt:lpstr>Classic Models (Simple, No SVM, No Deep Learning)</vt:lpstr>
      <vt:lpstr>Very simple fake news filter</vt:lpstr>
      <vt:lpstr>Linear regression</vt:lpstr>
      <vt:lpstr>Presentación de PowerPoint</vt:lpstr>
      <vt:lpstr>Presentación de PowerPoint</vt:lpstr>
      <vt:lpstr>Interpretation</vt:lpstr>
      <vt:lpstr>Subject Leakage</vt:lpstr>
      <vt:lpstr>Why Are Scores So High?</vt:lpstr>
      <vt:lpstr>SVM</vt:lpstr>
      <vt:lpstr>SVM results</vt:lpstr>
      <vt:lpstr>SVM results</vt:lpstr>
      <vt:lpstr>SVM results</vt:lpstr>
      <vt:lpstr>BERT</vt:lpstr>
      <vt:lpstr>BERT results</vt:lpstr>
      <vt:lpstr>Presentación de PowerPoint</vt:lpstr>
      <vt:lpstr>Presentación de PowerPoint</vt:lpstr>
      <vt:lpstr>Presentación de PowerPoint</vt:lpstr>
      <vt:lpstr>Presentación de PowerPoint</vt:lpstr>
      <vt:lpstr>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Sebastian Nagles</cp:lastModifiedBy>
  <cp:revision>12</cp:revision>
  <dcterms:created xsi:type="dcterms:W3CDTF">2013-01-27T09:14:16Z</dcterms:created>
  <dcterms:modified xsi:type="dcterms:W3CDTF">2026-01-26T18:29:47Z</dcterms:modified>
  <cp:category/>
</cp:coreProperties>
</file>