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6" r:id="rId9"/>
    <p:sldId id="267" r:id="rId10"/>
    <p:sldId id="262" r:id="rId11"/>
    <p:sldId id="263" r:id="rId12"/>
    <p:sldId id="264" r:id="rId13"/>
    <p:sldId id="265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A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780" y="3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Fake News Classifier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Classic ML results, evaluation, and leakage analysis</a:t>
            </a:r>
          </a:p>
        </p:txBody>
      </p:sp>
      <p:pic>
        <p:nvPicPr>
          <p:cNvPr id="5" name="Grafik 4" descr="Ein Bild, das Text, Grafiken, Screenshot, Electric Blue (Farbe) enthält.&#10;&#10;KI-generierte Inhalte können fehlerhaft sein.">
            <a:extLst>
              <a:ext uri="{FF2B5EF4-FFF2-40B4-BE49-F238E27FC236}">
                <a16:creationId xmlns:a16="http://schemas.microsoft.com/office/drawing/2014/main" id="{85BCFCE1-CDFF-C744-8BFB-5691F8EBE2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475" r="13358"/>
          <a:stretch>
            <a:fillRect/>
          </a:stretch>
        </p:blipFill>
        <p:spPr>
          <a:xfrm>
            <a:off x="-254000" y="0"/>
            <a:ext cx="9652000" cy="6858000"/>
          </a:xfrm>
          <a:prstGeom prst="rect">
            <a:avLst/>
          </a:prstGeom>
        </p:spPr>
      </p:pic>
      <p:pic>
        <p:nvPicPr>
          <p:cNvPr id="7" name="Grafik 6" descr="Ein Bild, das Text, Kreis, Schrift, Logo enthält.&#10;&#10;KI-generierte Inhalte können fehlerhaft sein.">
            <a:extLst>
              <a:ext uri="{FF2B5EF4-FFF2-40B4-BE49-F238E27FC236}">
                <a16:creationId xmlns:a16="http://schemas.microsoft.com/office/drawing/2014/main" id="{A7B70707-59AA-82F9-4DD4-4BD6C3435C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826" b="50000"/>
          <a:stretch>
            <a:fillRect/>
          </a:stretch>
        </p:blipFill>
        <p:spPr>
          <a:xfrm>
            <a:off x="5208814" y="2531268"/>
            <a:ext cx="3033486" cy="310753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74ED6ECB-9490-2BF4-817D-020175736733}"/>
              </a:ext>
            </a:extLst>
          </p:cNvPr>
          <p:cNvSpPr txBox="1"/>
          <p:nvPr/>
        </p:nvSpPr>
        <p:spPr>
          <a:xfrm>
            <a:off x="7629014" y="3735462"/>
            <a:ext cx="4619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800" dirty="0">
                <a:solidFill>
                  <a:srgbClr val="BA0001"/>
                </a:solidFill>
                <a:latin typeface="Bahnschrift SemiBold Condensed" panose="020B0502040204020203" pitchFamily="34" charset="0"/>
              </a:rPr>
              <a:t>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Task and dataset</a:t>
            </a:r>
          </a:p>
          <a:p>
            <a:r>
              <a:t>Preprocessing and evaluation setup</a:t>
            </a:r>
          </a:p>
          <a:p>
            <a:r>
              <a:t>Classic classifiers (simple, no SVM, no deep learning)</a:t>
            </a:r>
          </a:p>
          <a:p>
            <a:r>
              <a:t>Results and interpretation</a:t>
            </a:r>
          </a:p>
          <a:p>
            <a:r>
              <a:t>Subject leakage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Classify news as real or fake using the provided dataset</a:t>
            </a:r>
          </a:p>
          <a:p>
            <a:r>
              <a:rPr dirty="0"/>
              <a:t>Use title and text fields</a:t>
            </a:r>
          </a:p>
          <a:p>
            <a:r>
              <a:rPr dirty="0"/>
              <a:t>Evaluate with 5-fold cross-validation</a:t>
            </a:r>
          </a:p>
          <a:p>
            <a:r>
              <a:rPr dirty="0"/>
              <a:t>Compare multiple classic ML classifiers</a:t>
            </a:r>
          </a:p>
          <a:p>
            <a:r>
              <a:rPr dirty="0"/>
              <a:t>Analyze unusual performance and possible leakage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308725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dirty="0"/>
              <a:t>44,898 articles</a:t>
            </a:r>
          </a:p>
          <a:p>
            <a:r>
              <a:rPr dirty="0"/>
              <a:t>Combine title + text into a single body field</a:t>
            </a:r>
          </a:p>
          <a:p>
            <a:r>
              <a:rPr dirty="0"/>
              <a:t>Tokenization, </a:t>
            </a:r>
            <a:r>
              <a:rPr dirty="0" err="1"/>
              <a:t>stopword</a:t>
            </a:r>
            <a:r>
              <a:rPr dirty="0"/>
              <a:t> removal, stemming (for counting models)</a:t>
            </a:r>
          </a:p>
          <a:p>
            <a:r>
              <a:rPr dirty="0"/>
              <a:t>TF-IDF for linear models</a:t>
            </a:r>
          </a:p>
          <a:p>
            <a:r>
              <a:rPr dirty="0"/>
              <a:t>5-fold stratified cross-validation</a:t>
            </a:r>
          </a:p>
        </p:txBody>
      </p:sp>
      <p:pic>
        <p:nvPicPr>
          <p:cNvPr id="5" name="Grafik 4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6127D562-E958-2EBB-CFEE-694CDB7E6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30" y="1417638"/>
            <a:ext cx="8697539" cy="4620270"/>
          </a:xfrm>
          <a:prstGeom prst="rect">
            <a:avLst/>
          </a:prstGeom>
        </p:spPr>
      </p:pic>
      <p:sp>
        <p:nvSpPr>
          <p:cNvPr id="7" name="Titel 6">
            <a:extLst>
              <a:ext uri="{FF2B5EF4-FFF2-40B4-BE49-F238E27FC236}">
                <a16:creationId xmlns:a16="http://schemas.microsoft.com/office/drawing/2014/main" id="{A14BB763-0352-2875-0610-D92DA6A5D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Classic Models (Simple, No SVM, No Deep Learning)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Counting heuristics</a:t>
            </a:r>
          </a:p>
          <a:p>
            <a:r>
              <a:t>is_fake1: compares most common fake vs real token</a:t>
            </a:r>
          </a:p>
          <a:p>
            <a:r>
              <a:t>is_fake2: overlaps with fake vs real token counters</a:t>
            </a:r>
          </a:p>
          <a:p>
            <a:r>
              <a:t>Linear Regression (thresholded)</a:t>
            </a:r>
          </a:p>
          <a:p>
            <a:r>
              <a:t>Logistic Regression (TF-IDF)</a:t>
            </a:r>
          </a:p>
          <a:p>
            <a:r>
              <a:t>Naive Bayes (Multinomial, Bernoulli)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5600" y="-296862"/>
            <a:ext cx="8229600" cy="1143000"/>
          </a:xfrm>
        </p:spPr>
        <p:txBody>
          <a:bodyPr/>
          <a:lstStyle/>
          <a:p>
            <a:r>
              <a:rPr lang="de-DE" dirty="0"/>
              <a:t>Very simple fake </a:t>
            </a:r>
            <a:r>
              <a:rPr lang="de-DE" dirty="0" err="1"/>
              <a:t>news</a:t>
            </a:r>
            <a:r>
              <a:rPr lang="de-DE" dirty="0"/>
              <a:t> </a:t>
            </a:r>
            <a:r>
              <a:rPr lang="de-DE" dirty="0" err="1"/>
              <a:t>filter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036066"/>
              </p:ext>
            </p:extLst>
          </p:nvPr>
        </p:nvGraphicFramePr>
        <p:xfrm>
          <a:off x="799011" y="4964466"/>
          <a:ext cx="754597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52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0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5203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7" name="Grafik 6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89DD6052-981F-751D-2B05-323239579D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011" y="948531"/>
            <a:ext cx="1755503" cy="3913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0B88E-86F7-D528-3223-82A8BA888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71E79-B7B3-21AB-BB04-8CD04A35E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5600" y="-296862"/>
            <a:ext cx="8229600" cy="1143000"/>
          </a:xfrm>
        </p:spPr>
        <p:txBody>
          <a:bodyPr/>
          <a:lstStyle/>
          <a:p>
            <a:r>
              <a:rPr lang="de-DE" dirty="0"/>
              <a:t>Linear </a:t>
            </a:r>
            <a:r>
              <a:rPr lang="de-DE" dirty="0" err="1"/>
              <a:t>regression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6B3136-56B7-5772-5885-FC922D65E6BE}"/>
              </a:ext>
            </a:extLst>
          </p:cNvPr>
          <p:cNvGraphicFramePr>
            <a:graphicFrameLocks noGrp="1"/>
          </p:cNvGraphicFramePr>
          <p:nvPr/>
        </p:nvGraphicFramePr>
        <p:xfrm>
          <a:off x="640080" y="146304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MCC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0.260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is_fake2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0.857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026" name="Picture 2" descr="3. Linear Regression — Machine Learning">
            <a:extLst>
              <a:ext uri="{FF2B5EF4-FFF2-40B4-BE49-F238E27FC236}">
                <a16:creationId xmlns:a16="http://schemas.microsoft.com/office/drawing/2014/main" id="{5A51A72D-106B-A706-B2F4-3B40E2375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66738"/>
            <a:ext cx="9144000" cy="572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3ECBA2C8-3DB1-5CA0-D7EC-44DA1B996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8126" y="6114946"/>
            <a:ext cx="1324160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8651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D0AD2-74CC-F81B-E73E-C6E3BAF36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Logistic Regression - Logicmojo">
            <a:extLst>
              <a:ext uri="{FF2B5EF4-FFF2-40B4-BE49-F238E27FC236}">
                <a16:creationId xmlns:a16="http://schemas.microsoft.com/office/drawing/2014/main" id="{4541D1FB-B15E-BE60-20A7-D849BE9847F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0"/>
          <a:stretch>
            <a:fillRect/>
          </a:stretch>
        </p:blipFill>
        <p:spPr bwMode="auto">
          <a:xfrm>
            <a:off x="2286000" y="1193800"/>
            <a:ext cx="4572000" cy="447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el 4">
            <a:extLst>
              <a:ext uri="{FF2B5EF4-FFF2-40B4-BE49-F238E27FC236}">
                <a16:creationId xmlns:a16="http://schemas.microsoft.com/office/drawing/2014/main" id="{F0EEBA98-8742-2D4D-7D98-DF285DE0A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7" name="Grafik 6" descr="Ein Bild, das Text, Schrift, Screenshot, Typografie enthält.&#10;&#10;KI-generierte Inhalte können fehlerhaft sein.">
            <a:extLst>
              <a:ext uri="{FF2B5EF4-FFF2-40B4-BE49-F238E27FC236}">
                <a16:creationId xmlns:a16="http://schemas.microsoft.com/office/drawing/2014/main" id="{F3874FDA-E0EE-EDC2-F636-0726BC33A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418763"/>
            <a:ext cx="1333686" cy="781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8117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F63F-F8EB-B706-D94D-25B497284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E548B5A8-C71F-39D5-D9CB-6F68C52D9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074" name="Picture 2" descr="The ultimate guide to Naive Bayes | Machine Learning Archive">
            <a:extLst>
              <a:ext uri="{FF2B5EF4-FFF2-40B4-BE49-F238E27FC236}">
                <a16:creationId xmlns:a16="http://schemas.microsoft.com/office/drawing/2014/main" id="{5208F7DE-0045-8EDC-528B-85BC074BF7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20750"/>
            <a:ext cx="9144000" cy="5014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23839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is_fake1 is weak: single-token heuristic</a:t>
            </a:r>
          </a:p>
          <a:p>
            <a:r>
              <a:t>is_fake2 is surprisingly strong, likely due to dataset bias</a:t>
            </a:r>
          </a:p>
          <a:p>
            <a:r>
              <a:t>Linear/LogReg perform very well on TF-IDF features</a:t>
            </a:r>
          </a:p>
          <a:p>
            <a:r>
              <a:t>High scores suggest strong stylistic or source signals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Subject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Subject column is perfectly predictive in this dataset</a:t>
            </a:r>
          </a:p>
          <a:p>
            <a:r>
              <a:t>Many subjects have fake_ratio = 1.0 or 0.0</a:t>
            </a:r>
          </a:p>
          <a:p>
            <a:r>
              <a:t>Subject-only classifier reaches 1.000 metrics</a:t>
            </a:r>
          </a:p>
          <a:p>
            <a:r>
              <a:t>Conclusion: subject must be excluded for fair evaluation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Are Scores So High?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Dataset-specific signals dominate</a:t>
            </a:r>
          </a:p>
          <a:p>
            <a:r>
              <a:t>Publisher/subject bias in labels</a:t>
            </a:r>
          </a:p>
          <a:p>
            <a:r>
              <a:t>Stylistic cues (wording, formatting) captured by TF-IDF</a:t>
            </a:r>
          </a:p>
          <a:p>
            <a:r>
              <a:t>Potential source leakage (e.g., consistent tokens)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Classic models achieve strong performance</a:t>
            </a:r>
          </a:p>
          <a:p>
            <a:r>
              <a:t>Performance is likely inflated by dataset bias</a:t>
            </a:r>
          </a:p>
          <a:p>
            <a:r>
              <a:t>Subject leakage is extreme and must be handled</a:t>
            </a:r>
          </a:p>
          <a:p>
            <a:r>
              <a:t>Future work: debiasing, cross-source validation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337</Words>
  <Application>Microsoft Office PowerPoint</Application>
  <PresentationFormat>Bildschirmpräsentation (4:3)</PresentationFormat>
  <Paragraphs>81</Paragraphs>
  <Slides>13</Slides>
  <Notes>0</Notes>
  <HiddenSlides>6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Arial</vt:lpstr>
      <vt:lpstr>Bahnschrift SemiBold Condensed</vt:lpstr>
      <vt:lpstr>Calibri</vt:lpstr>
      <vt:lpstr>Office Theme</vt:lpstr>
      <vt:lpstr>Fake News Classifier</vt:lpstr>
      <vt:lpstr>Agenda</vt:lpstr>
      <vt:lpstr>Task</vt:lpstr>
      <vt:lpstr>PowerPoint-Präsentation</vt:lpstr>
      <vt:lpstr>Classic Models (Simple, No SVM, No Deep Learning)</vt:lpstr>
      <vt:lpstr>Very simple fake news filter</vt:lpstr>
      <vt:lpstr>Linear regression</vt:lpstr>
      <vt:lpstr>PowerPoint-Präsentation</vt:lpstr>
      <vt:lpstr>PowerPoint-Präsentation</vt:lpstr>
      <vt:lpstr>Interpretation</vt:lpstr>
      <vt:lpstr>Subject Leakage</vt:lpstr>
      <vt:lpstr>Why Are Scores So High?</vt:lpstr>
      <vt:lpstr>Takeaways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Heiligenthal</cp:lastModifiedBy>
  <cp:revision>2</cp:revision>
  <dcterms:created xsi:type="dcterms:W3CDTF">2013-01-27T09:14:16Z</dcterms:created>
  <dcterms:modified xsi:type="dcterms:W3CDTF">2026-01-20T03:45:29Z</dcterms:modified>
  <cp:category/>
</cp:coreProperties>
</file>